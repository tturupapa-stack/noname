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F4D0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19742" y="1281261"/>
            <a:ext cx="570451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Stock Briefing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719742" y="2154287"/>
            <a:ext cx="570451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12월 4주차 주요 종목 리뷰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19742" y="3033713"/>
            <a:ext cx="57045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2025.12.20 - 2025.12.26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19742" y="3474988"/>
            <a:ext cx="57045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You Were Sleeping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31813"/>
            <a:ext cx="50750" cy="203150"/>
          </a:xfrm>
          <a:prstGeom prst="rect">
            <a:avLst/>
          </a:prstGeom>
          <a:solidFill>
            <a:srgbClr val="F4D0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251" y="923925"/>
            <a:ext cx="104168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지수 현황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269950"/>
            <a:ext cx="4000500" cy="869752"/>
          </a:xfrm>
          <a:prstGeom prst="roundRect">
            <a:avLst>
              <a:gd name="adj" fmla="val 876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7475" y="1406426"/>
            <a:ext cx="3802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 500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7475" y="1587401"/>
            <a:ext cx="3802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6,040.04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7475" y="1850827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+0.73% (4일 연속 상승)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1000" y="2266652"/>
            <a:ext cx="4000500" cy="869752"/>
          </a:xfrm>
          <a:prstGeom prst="roundRect">
            <a:avLst>
              <a:gd name="adj" fmla="val 876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7475" y="2403128"/>
            <a:ext cx="3802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NASDAQ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7475" y="2584103"/>
            <a:ext cx="3802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19,854.94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7475" y="2847529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+0.4% (주간)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1000" y="3263354"/>
            <a:ext cx="4000500" cy="879277"/>
          </a:xfrm>
          <a:prstGeom prst="roundRect">
            <a:avLst>
              <a:gd name="adj" fmla="val 8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7475" y="3399830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성장률 (Q3)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7475" y="3590330"/>
            <a:ext cx="3802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7475" y="3853755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예상치 3.2% 상회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62500" y="931813"/>
            <a:ext cx="50750" cy="203150"/>
          </a:xfrm>
          <a:prstGeom prst="rect">
            <a:avLst/>
          </a:prstGeom>
          <a:solidFill>
            <a:srgbClr val="F4D0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4751" y="923925"/>
            <a:ext cx="104168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금주 주요 이슈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62500" y="1269950"/>
            <a:ext cx="4000500" cy="1129308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Claus Rally: 연말 랠리 진행 중, 주요 지수 사상 최고치 근접</a:t>
            </a:r>
            <a:endParaRPr lang="en-US" sz="1000" dirty="0"/>
          </a:p>
          <a:p>
            <a:pPr algn="l" marL="95250" indent="-9525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트레이드 강세: NVIDIA, Oracle 등 AI 관련주 강세</a:t>
            </a:r>
            <a:endParaRPr lang="en-US" sz="1000" dirty="0"/>
          </a:p>
          <a:p>
            <a:pPr algn="l" marL="95250" indent="-9525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 지표 호조: 신규 실업수당 청구 214,000건 (예상치 하회)</a:t>
            </a:r>
            <a:endParaRPr lang="en-US" sz="1000" dirty="0"/>
          </a:p>
          <a:p>
            <a:pPr algn="l" marL="95250" indent="-9525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 신뢰지수: 12월 89.1로 하락 (전월 92.9)</a:t>
            </a:r>
            <a:endParaRPr lang="en-US" sz="1000" dirty="0"/>
          </a:p>
          <a:p>
            <a:pPr algn="l" marL="95250" indent="-9525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 가격 신고가: 온스당 $4,555.1 돌파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Trending Stocks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31813"/>
            <a:ext cx="50750" cy="203150"/>
          </a:xfrm>
          <a:prstGeom prst="rect">
            <a:avLst/>
          </a:prstGeom>
          <a:solidFill>
            <a:srgbClr val="F4D0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251" y="923925"/>
            <a:ext cx="15625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거래량 기준 상위 종목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269950"/>
            <a:ext cx="8401050" cy="2230934"/>
          </a:xfrm>
          <a:prstGeom prst="roundRect">
            <a:avLst>
              <a:gd name="adj" fmla="val 341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0525" y="1279475"/>
            <a:ext cx="8382000" cy="396776"/>
          </a:xfrm>
          <a:prstGeom prst="roundRect">
            <a:avLst>
              <a:gd name="adj" fmla="val 19205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2925" y="1406426"/>
            <a:ext cx="453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326" y="1406426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49326" y="1406426"/>
            <a:ext cx="41585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08544" y="1406426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97495" y="1406426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3906" y="1406426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0525" y="2036415"/>
            <a:ext cx="8382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925" y="1777752"/>
            <a:ext cx="453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326" y="1777752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49326" y="1777752"/>
            <a:ext cx="41585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Nike, Inc.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8544" y="1777752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$60.00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97495" y="1777752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+4.64%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3906" y="1777752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35.0M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0525" y="2401342"/>
            <a:ext cx="8382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925" y="2142679"/>
            <a:ext cx="453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326" y="2142679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49326" y="2142679"/>
            <a:ext cx="41585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Power, Inc.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8544" y="2142679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97495" y="2142679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+2.44%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3906" y="2142679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46.4M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0525" y="2766268"/>
            <a:ext cx="8382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2925" y="2507605"/>
            <a:ext cx="453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7326" y="2507605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49326" y="2507605"/>
            <a:ext cx="41585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8544" y="2507605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$188.61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97495" y="2507605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-0.32%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3906" y="2507605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64.8M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90525" y="3131195"/>
            <a:ext cx="8382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2925" y="2872532"/>
            <a:ext cx="453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87326" y="2872532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TSLA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749326" y="2872532"/>
            <a:ext cx="41585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Tesla, Inc.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08544" y="2872532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$485.40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97495" y="2872532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-0.03%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83906" y="2872532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41.0M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2925" y="3237458"/>
            <a:ext cx="453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87326" y="3237458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749326" y="3237458"/>
            <a:ext cx="41585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Corporation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08544" y="3237458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$36.16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97495" y="3237458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-0.52%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83906" y="3237458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37.4M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5150"/>
          </a:xfrm>
          <a:prstGeom prst="rect">
            <a:avLst/>
          </a:prstGeom>
          <a:solidFill>
            <a:srgbClr val="76B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 (NVDA)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593675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반도체 대장주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66813"/>
            <a:ext cx="50750" cy="177701"/>
          </a:xfrm>
          <a:prstGeom prst="rect">
            <a:avLst/>
          </a:prstGeom>
          <a:solidFill>
            <a:srgbClr val="76B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251" y="1155650"/>
            <a:ext cx="6293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주가 현황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1482626"/>
            <a:ext cx="40005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6159" y="1644551"/>
            <a:ext cx="375018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$188.61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6159" y="2130326"/>
            <a:ext cx="37501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시가총액: $4.59T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2581126"/>
            <a:ext cx="4000500" cy="730151"/>
          </a:xfrm>
          <a:prstGeom prst="roundRect">
            <a:avLst>
              <a:gd name="adj" fmla="val 10436"/>
            </a:avLst>
          </a:prstGeom>
          <a:solidFill>
            <a:srgbClr val="76B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6443" y="2733526"/>
            <a:ext cx="37696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매출 $187.1B 달성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443" y="2946202"/>
            <a:ext cx="37696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시총 $5T 돌파 후 $4T대 안착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2500" y="1166813"/>
            <a:ext cx="50750" cy="177701"/>
          </a:xfrm>
          <a:prstGeom prst="rect">
            <a:avLst/>
          </a:prstGeom>
          <a:solidFill>
            <a:srgbClr val="76B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4751" y="1155650"/>
            <a:ext cx="9674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금주 주요 뉴스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62500" y="1482626"/>
            <a:ext cx="4000500" cy="615107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9450" y="1609576"/>
            <a:ext cx="38215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칩 중국 수출 검토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9450" y="1822252"/>
            <a:ext cx="382153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트럼프 행정부, NVIDIA H200 칩의 중국 내 승인된 고객 판매 허용 검토 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2500" y="2199233"/>
            <a:ext cx="4000500" cy="615107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89450" y="2326184"/>
            <a:ext cx="38215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트레이드 선두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89450" y="2538859"/>
            <a:ext cx="382153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Oracle과 함께 AI 트레이드 부활 주도. Mag 7 중 최고 성과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62500" y="2915841"/>
            <a:ext cx="4000500" cy="615107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89450" y="3042791"/>
            <a:ext cx="38215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전망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89450" y="3255466"/>
            <a:ext cx="382153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애널리스트들, 2026년 목표가 상향 조정. AI 수요 지속 성장 전망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515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Nike, Inc. (NKE)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593675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금주 최고 상승 종목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66813"/>
            <a:ext cx="50750" cy="1777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251" y="1155650"/>
            <a:ext cx="6293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주가 현황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1482626"/>
            <a:ext cx="4000500" cy="1212652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6159" y="1644551"/>
            <a:ext cx="375018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$60.00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6159" y="2079427"/>
            <a:ext cx="37501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+4.64%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6159" y="2380952"/>
            <a:ext cx="3750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시가총액: $88.7B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1000" y="2822228"/>
            <a:ext cx="4000500" cy="393502"/>
          </a:xfrm>
          <a:prstGeom prst="roundRect">
            <a:avLst>
              <a:gd name="adj" fmla="val 1613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7475" y="2933254"/>
            <a:ext cx="3360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21460" y="2933254"/>
            <a:ext cx="4320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35.0M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1000" y="3291929"/>
            <a:ext cx="4000500" cy="393502"/>
          </a:xfrm>
          <a:prstGeom prst="roundRect">
            <a:avLst>
              <a:gd name="adj" fmla="val 1613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7475" y="3402955"/>
            <a:ext cx="5961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거래량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21460" y="3402955"/>
            <a:ext cx="4320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1000" y="3761631"/>
            <a:ext cx="4000500" cy="393502"/>
          </a:xfrm>
          <a:prstGeom prst="roundRect">
            <a:avLst>
              <a:gd name="adj" fmla="val 1613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7475" y="3872657"/>
            <a:ext cx="5961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거래량 비율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63578" y="3872657"/>
            <a:ext cx="389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1.94x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2500" y="1166813"/>
            <a:ext cx="50750" cy="1777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4751" y="1155650"/>
            <a:ext cx="7751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포인트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62500" y="1482626"/>
            <a:ext cx="4000500" cy="1308199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98975" y="1619101"/>
            <a:ext cx="3802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상승 요인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8975" y="1857226"/>
            <a:ext cx="3727549" cy="74637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거래량 급증: 평균 대비 약 2배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연말 소비 시즌 기대감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신제품 라인업 호평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중국 시장 회복 기대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62500" y="2892326"/>
            <a:ext cx="4000500" cy="1308199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98975" y="3028801"/>
            <a:ext cx="3802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스코어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8975" y="3266926"/>
            <a:ext cx="3727549" cy="74637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 변동: 7/10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거래량: 5/10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시가총액: 10/10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종합: 22점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53901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44401" y="758726"/>
            <a:ext cx="39511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44401" y="1120676"/>
            <a:ext cx="3873698" cy="415826"/>
          </a:xfrm>
          <a:prstGeom prst="roundRect">
            <a:avLst>
              <a:gd name="adj" fmla="val 15271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351" y="1247626"/>
            <a:ext cx="3692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Claus Rally 진행 중 - 주요 지수 사상 최고치 근접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638002"/>
            <a:ext cx="3873698" cy="415826"/>
          </a:xfrm>
          <a:prstGeom prst="roundRect">
            <a:avLst>
              <a:gd name="adj" fmla="val 15271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1764953"/>
            <a:ext cx="3692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섹터 강세 지속 - NVIDIA, Oracle 주도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2155329"/>
            <a:ext cx="3873698" cy="415826"/>
          </a:xfrm>
          <a:prstGeom prst="roundRect">
            <a:avLst>
              <a:gd name="adj" fmla="val 15271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2282279"/>
            <a:ext cx="3692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성장률 4.3% - 예상치 크게 상회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4401" y="2672655"/>
            <a:ext cx="3873698" cy="415826"/>
          </a:xfrm>
          <a:prstGeom prst="roundRect">
            <a:avLst>
              <a:gd name="adj" fmla="val 15271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351" y="2799606"/>
            <a:ext cx="3692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 가격 사상 최고 - $4,555/oz 돌파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5901" y="758726"/>
            <a:ext cx="39511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 Watch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5901" y="1120676"/>
            <a:ext cx="774502" cy="253901"/>
          </a:xfrm>
          <a:prstGeom prst="roundRect">
            <a:avLst>
              <a:gd name="adj" fmla="val 20008"/>
            </a:avLst>
          </a:prstGeom>
          <a:solidFill>
            <a:srgbClr val="F4D0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21687" y="1171426"/>
            <a:ext cx="5829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7353" y="1171426"/>
            <a:ext cx="13498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중국 수출 결정 주시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5901" y="1501527"/>
            <a:ext cx="774502" cy="253901"/>
          </a:xfrm>
          <a:prstGeom prst="roundRect">
            <a:avLst>
              <a:gd name="adj" fmla="val 20008"/>
            </a:avLst>
          </a:prstGeom>
          <a:solidFill>
            <a:srgbClr val="F4D0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21687" y="1552277"/>
            <a:ext cx="5829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27353" y="1552277"/>
            <a:ext cx="10041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연말 실적 발표 대비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5901" y="1882378"/>
            <a:ext cx="774502" cy="253901"/>
          </a:xfrm>
          <a:prstGeom prst="roundRect">
            <a:avLst>
              <a:gd name="adj" fmla="val 20008"/>
            </a:avLst>
          </a:prstGeom>
          <a:solidFill>
            <a:srgbClr val="F4D0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21687" y="1933129"/>
            <a:ext cx="5829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TSLA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27353" y="1933129"/>
            <a:ext cx="13762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인도량 목표 달성 여부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5901" y="2263229"/>
            <a:ext cx="774502" cy="253901"/>
          </a:xfrm>
          <a:prstGeom prst="roundRect">
            <a:avLst>
              <a:gd name="adj" fmla="val 20008"/>
            </a:avLst>
          </a:prstGeom>
          <a:solidFill>
            <a:srgbClr val="F4D0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21687" y="2313980"/>
            <a:ext cx="5829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27353" y="2313980"/>
            <a:ext cx="12282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구조조정 및 회복 모멘텀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1849" y="4857750"/>
            <a:ext cx="84203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You Were Sleeping - Weekly Stock Briefing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F4D0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Stock Briefing - 2025년 12월 4주차</dc:title>
  <dc:subject>주간 주식 브리핑</dc:subject>
  <dc:creator>While You Were Sleeping</dc:creator>
  <cp:lastModifiedBy>While You Were Sleeping</cp:lastModifiedBy>
  <cp:revision>1</cp:revision>
  <dcterms:created xsi:type="dcterms:W3CDTF">2025-12-26T13:24:32Z</dcterms:created>
  <dcterms:modified xsi:type="dcterms:W3CDTF">2025-12-26T13:24:32Z</dcterms:modified>
</cp:coreProperties>
</file>